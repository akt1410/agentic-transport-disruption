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58FB625-4831-4794-85E4-CB42C68E26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577867B-18DF-4C31-BB30-3CB2BB3CF3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81B61CB-7EBE-4D92-87C0-22A5239BE9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81C1572-7952-42DE-99F6-EEAB593D5F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991361E-1C59-43CA-BBB0-C7611A9669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3C2667A-1ADB-40B8-B645-411E8EF24B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28938F2-E49C-4E8D-827E-F52BD7BC53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85766C1-D60F-47A3-9088-57D13978E0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125419A-77DA-43EF-B3AE-9000BABA36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66A8FD1-9C80-4414-B4B4-1E155616EB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8D1F11A-AFC6-4494-8120-D7DCCA0EC5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914400" y="1645920"/>
            <a:ext cx="10332000" cy="11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AGENTIC </a:t>
            </a:r>
            <a:r>
              <a:rPr lang="en-US" sz="30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AI IN </a:t>
            </a:r>
            <a:r>
              <a:rPr lang="en-US" sz="30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URBAN </a:t>
            </a:r>
            <a:r>
              <a:rPr lang="en-US" sz="30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TRANSPO</a:t>
            </a:r>
            <a:r>
              <a:rPr lang="en-US" sz="30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RT </a:t>
            </a:r>
            <a:r>
              <a:rPr lang="en-US" sz="30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DISRUPTI</a:t>
            </a:r>
            <a:r>
              <a:rPr lang="en-US" sz="30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ON </a:t>
            </a:r>
            <a:r>
              <a:rPr lang="en-US" sz="30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MANAGE</a:t>
            </a:r>
            <a:r>
              <a:rPr lang="en-US" sz="30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MENT</a:t>
            </a:r>
            <a:br>
              <a:rPr sz="1350"/>
            </a:br>
            <a:r>
              <a:rPr lang="en-US" sz="135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Team: Akshat, </a:t>
            </a:r>
            <a:r>
              <a:rPr lang="en-US" sz="135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Aditya, Lakshya (B.Tech </a:t>
            </a:r>
            <a:r>
              <a:rPr lang="en-US" sz="135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CSE, IIIT Naya Raipur)</a:t>
            </a:r>
            <a:br>
              <a:rPr sz="1350"/>
            </a:br>
            <a:r>
              <a:rPr lang="en-US" sz="135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Mentors: Dr. Alaa </a:t>
            </a:r>
            <a:r>
              <a:rPr lang="en-US" sz="135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DAOUD (INSA Hauts-</a:t>
            </a:r>
            <a:r>
              <a:rPr lang="en-US" sz="135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de-France) &amp; Dr. </a:t>
            </a:r>
            <a:r>
              <a:rPr lang="en-US" sz="135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Srinivasa K G (IIIT-NR)</a:t>
            </a:r>
            <a:br>
              <a:rPr sz="1350"/>
            </a:br>
            <a:r>
              <a:rPr lang="en-US" sz="135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Evaluated </a:t>
            </a:r>
            <a:r>
              <a:rPr lang="en-US" sz="135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Foundation Model: </a:t>
            </a:r>
            <a:r>
              <a:rPr lang="en-US" sz="135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Google Gemini API </a:t>
            </a:r>
            <a:r>
              <a:rPr lang="en-US" sz="135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(gemini-flash-lite-</a:t>
            </a:r>
            <a:r>
              <a:rPr lang="en-US" sz="135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latest)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"/>
          <p:cNvSpPr/>
          <p:nvPr/>
        </p:nvSpPr>
        <p:spPr>
          <a:xfrm>
            <a:off x="731520" y="457200"/>
            <a:ext cx="106977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1. Research Motivation &amp; Primary Research Question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0" i="1" u="none" strike="noStrike">
                <a:solidFill>
                  <a:srgbClr val="646464"/>
                </a:solidFill>
                <a:effectLst/>
                <a:uFillTx/>
                <a:latin typeface="Calibri"/>
              </a:rPr>
              <a:t>The Core Dilemma in Intelligent Transportation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2"/>
          <p:cNvSpPr/>
          <p:nvPr/>
        </p:nvSpPr>
        <p:spPr>
          <a:xfrm>
            <a:off x="731520" y="1645920"/>
            <a:ext cx="10697760" cy="263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5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• The Urban Crisis: </a:t>
            </a: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Road closures, water main bursts, localized gridlock, and EV battery breakdowns require real-time dynamic rerouting.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5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• The Literature Hype: </a:t>
            </a: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Recent papers aggressively propose Generative LLMs and Multi-Agent Systems for autonomous dispatch—without verifying if they beat classical math.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5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• The Primary Research Question: </a:t>
            </a: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“When does multi-agent LLM coordination actually improve transport-disruption decisions compared with a single LLM agent on 2D road networks, and is the improvement worth the additional computational and financial cost?”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5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• Key Hypotheses Tested: </a:t>
            </a: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H1: LLMs without guards produce non-zero violations · H2: Multi-agent costs scale predictably · H3: Complexity crossover exists · H4: Monolithic LLMs suffer context collapse.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731520" y="457200"/>
            <a:ext cx="106977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2. Critical Literature Audit: What Current Papers Get Wrong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731520" y="1645920"/>
            <a:ext cx="10697760" cy="23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5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• Flaw 1: 'Prompt Slicing' Masquerading as Multi-Agent: </a:t>
            </a: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It is just sequential prompt decomposition without independent agency.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5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• Flaw 2: Forcing Probabilistic LLMs to do Graph Theory: </a:t>
            </a: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They hallucinate non-existent roads and illegal turns.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5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• Flaw 3: Complete Absence of Physical Safety Verification: </a:t>
            </a: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Existing literature lacks deterministic validators to verify if an EV runs out of battery mid-route or if vehicles are illegally double-booked.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5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• Our Scientific Differentiation: </a:t>
            </a: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We implement Neuro-Symbolic Tool Calling (Dijkstra tools for routing) + a Deterministic Non-LLM Safety Guard + Multi-baseline benchmarking against classical SOPs.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731520" y="457200"/>
            <a:ext cx="106977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3. Under-the-Hood System Architecture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0" i="1" u="none" strike="noStrike">
                <a:solidFill>
                  <a:srgbClr val="646464"/>
                </a:solidFill>
                <a:effectLst/>
                <a:uFillTx/>
                <a:latin typeface="Calibri"/>
              </a:rPr>
              <a:t>A Verifiable Neuro-Symbolic Testbed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731520" y="1645920"/>
            <a:ext cx="10697760" cy="28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5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• Urban Road Network (`network.py`): </a:t>
            </a: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4×4 Manhattan grid (16 named nodes N0–N15, 24 edges with capacities, travel times, and named streets like Elm Street and Grand Ave).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5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• Graduated Disruption Spectrum (`scenarios.py`): </a:t>
            </a: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Levels L1–L5: Road closures, Road congestion, EV breakdowns, and sudden increase in passenger demands.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5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• Deterministic Tool API (`tools.py`): </a:t>
            </a: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Algorithmic tools: `tool_find_shortest_path` (Dijkstra), `tool_get_k_diverse_routes` (detour spreading), `tool_check_battery` (SoC + 15% buffer).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5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• Deterministic Safety Guard (`safety_guard.py`): </a:t>
            </a: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Non-LLM Python validator: checks topological reachability, battery sufficiency, seating capacity, and conflict resolution before execution.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731520" y="457200"/>
            <a:ext cx="106977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4. The Three Evaluated Decision Controllers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0" i="1" u="none" strike="noStrike">
                <a:solidFill>
                  <a:srgbClr val="646464"/>
                </a:solidFill>
                <a:effectLst/>
                <a:uFillTx/>
                <a:latin typeface="Calibri"/>
              </a:rPr>
              <a:t>Fair, Controlled Comparison on Identical Seeds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731520" y="1645920"/>
            <a:ext cx="1069776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5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• B1: Rule-Based SOP (Classical Municipal Dispatch): </a:t>
            </a:r>
            <a:r>
              <a:rPr lang="en-US" sz="135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Dijkstra routing on pre-scheduled database. Weakness: Blind to natural language text alerts (routes into flooded roads) and uses greedy first-come, first-served matching that starves emergency patients.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5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• B2: Monolithic Single-LLM Agent: </a:t>
            </a:r>
            <a:r>
              <a:rPr lang="en-US" sz="135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Single Gemini prompt with all alerts, fleet, and requests. Weakness: Context Overload at L4–L5—attention spreads thin across battery math, priority sorting, and routing.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5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• B3: Tool-Augmented Multi-Agent System (Our Proposed AI): </a:t>
            </a:r>
            <a:r>
              <a:rPr lang="en-US" sz="135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Decomposed into specialized roles + tools: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35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1. Traffic Agent: Extracts closed roads from text alerts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35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2. Routing Tool: Computes verified diverse detours via Dijkstra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35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3. Fleet Agent: Audits batteries and reserves high-SoC EVs for emergency trips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35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4. Coordinator Agent: Global conflict resolution and priority-aware matching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731520" y="457200"/>
            <a:ext cx="106977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5. Real </a:t>
            </a:r>
            <a:r>
              <a:rPr lang="en-US" sz="2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Empirical </a:t>
            </a:r>
            <a:r>
              <a:rPr lang="en-US" sz="2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Benchmark </a:t>
            </a:r>
            <a:r>
              <a:rPr lang="en-US" sz="2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Results </a:t>
            </a:r>
            <a:r>
              <a:rPr lang="en-US" sz="2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(Google </a:t>
            </a:r>
            <a:r>
              <a:rPr lang="en-US" sz="2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Gemini API)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0" i="1" u="none" strike="noStrike">
                <a:solidFill>
                  <a:srgbClr val="646464"/>
                </a:solidFill>
                <a:effectLst/>
                <a:uFillTx/>
                <a:latin typeface="Calibri"/>
              </a:rPr>
              <a:t>Live 4-Panel </a:t>
            </a:r>
            <a:r>
              <a:rPr lang="en-US" sz="1300" b="0" i="1" u="none" strike="noStrike">
                <a:solidFill>
                  <a:srgbClr val="646464"/>
                </a:solidFill>
                <a:effectLst/>
                <a:uFillTx/>
                <a:latin typeface="Calibri"/>
              </a:rPr>
              <a:t>Performance Evaluation </a:t>
            </a:r>
            <a:r>
              <a:rPr lang="en-US" sz="1300" b="0" i="1" u="none" strike="noStrike">
                <a:solidFill>
                  <a:srgbClr val="646464"/>
                </a:solidFill>
                <a:effectLst/>
                <a:uFillTx/>
                <a:latin typeface="Calibri"/>
              </a:rPr>
              <a:t>across Complexity </a:t>
            </a:r>
            <a:r>
              <a:rPr lang="en-US" sz="1300" b="0" i="1" u="none" strike="noStrike">
                <a:solidFill>
                  <a:srgbClr val="646464"/>
                </a:solidFill>
                <a:effectLst/>
                <a:uFillTx/>
                <a:latin typeface="Calibri"/>
              </a:rPr>
              <a:t>Levels L1 to L5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2" descr="real_benchmark.png"/>
          <p:cNvPicPr/>
          <p:nvPr/>
        </p:nvPicPr>
        <p:blipFill>
          <a:blip r:embed="rId1"/>
          <a:stretch/>
        </p:blipFill>
        <p:spPr>
          <a:xfrm>
            <a:off x="2160000" y="1260000"/>
            <a:ext cx="7713720" cy="5522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731520" y="457200"/>
            <a:ext cx="106977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6. </a:t>
            </a:r>
            <a:r>
              <a:rPr lang="en-US" sz="2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Quantitative </a:t>
            </a:r>
            <a:r>
              <a:rPr lang="en-US" sz="2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Performanc</a:t>
            </a:r>
            <a:r>
              <a:rPr lang="en-US" sz="2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e </a:t>
            </a:r>
            <a:r>
              <a:rPr lang="en-US" sz="2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Breakdown </a:t>
            </a:r>
            <a:r>
              <a:rPr lang="en-US" sz="2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across L1–L5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0" i="1" u="none" strike="noStrike">
                <a:solidFill>
                  <a:srgbClr val="646464"/>
                </a:solidFill>
                <a:effectLst/>
                <a:uFillTx/>
                <a:latin typeface="Calibri"/>
              </a:rPr>
              <a:t>Measured Data from </a:t>
            </a:r>
            <a:r>
              <a:rPr lang="en-US" sz="1300" b="0" i="1" u="none" strike="noStrike">
                <a:solidFill>
                  <a:srgbClr val="646464"/>
                </a:solidFill>
                <a:effectLst/>
                <a:uFillTx/>
                <a:latin typeface="Calibri"/>
              </a:rPr>
              <a:t>Live Gemini API </a:t>
            </a:r>
            <a:r>
              <a:rPr lang="en-US" sz="1300" b="0" i="1" u="none" strike="noStrike">
                <a:solidFill>
                  <a:srgbClr val="646464"/>
                </a:solidFill>
                <a:effectLst/>
                <a:uFillTx/>
                <a:latin typeface="Calibri"/>
              </a:rPr>
              <a:t>Execution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Table 2"/>
          <p:cNvGraphicFramePr/>
          <p:nvPr/>
        </p:nvGraphicFramePr>
        <p:xfrm>
          <a:off x="731520" y="1645920"/>
          <a:ext cx="10698120" cy="411480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685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Level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Controller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Weighted RFR (%) ↑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HCVR (%) ↓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Real Latency (s) ↓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Token Cost ($)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97D"/>
                    </a:solidFill>
                  </a:tcPr>
                </a:tc>
              </a:tr>
              <a:tr h="685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L1 (Simple)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B1 SOP / B2 Single / B3 Multi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100% / 100% / 100%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0% / 50% / 0%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0.001s / 2.56s / 6.07s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$0 / $0.00015 / $0.00032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685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L2 (Moderate)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B1 SOP / B2 Single / B3 Multi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100% / 100% / 81.2%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12.5% / 62.5% / 33.3%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0.001s / 1.55s / 3.93s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$0 / $0.00017 / $0.00041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685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L3 (Compound)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B1 SOP / B2 Single / B3 Multi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83.3% / 94.4% / 77.8%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29.2% / 35.0% / 33.3%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0.001s / 4.48s / 5.62s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$0 / $0.00020 / $0.00044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685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L4 (Cascading)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B1 SOP / B2 Single / B3 Multi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41.7% / 58.3% / 58.3%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33.3% / 116.7% / 116.7%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0.001s / 1.59s / 5.11s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$0 / $0.00022 / $0.00052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685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L5 (Crisis)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B1 SOP / B2 Single / B3 Multi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61.5% / 26.9% / 50.0%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16.7% / 50.0% / 116.7%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0.001s / 1.59s / 4.69s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82828"/>
                          </a:solidFill>
                          <a:effectLst/>
                          <a:uFillTx/>
                          <a:latin typeface="Calibri"/>
                        </a:rPr>
                        <a:t>$0 / $0.00022 / $0.00049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"/>
          <p:cNvGraphicFramePr/>
          <p:nvPr/>
        </p:nvGraphicFramePr>
        <p:xfrm>
          <a:off x="1800000" y="2160000"/>
          <a:ext cx="8819640" cy="3959640"/>
        </p:xfrm>
        <a:graphic>
          <a:graphicData uri="http://schemas.openxmlformats.org/drawingml/2006/table">
            <a:tbl>
              <a:tblPr/>
              <a:tblGrid>
                <a:gridCol w="1469880"/>
                <a:gridCol w="1469880"/>
                <a:gridCol w="1469880"/>
                <a:gridCol w="1469880"/>
                <a:gridCol w="1469880"/>
                <a:gridCol w="1470600"/>
              </a:tblGrid>
              <a:tr h="11322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Scenario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Total Requests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Proposed by Multi-Agent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Directly Served by Multi-Agent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(Zero Fallback, Passed Guard)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Repaired by SOP Fallback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Unserved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(Rejected &amp; No Fleet)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38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L4_000L4​_000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 requests 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(R0, R1, R3)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request 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(R4)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request 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(R2)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95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L4_001L4​_001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 requests 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(R0, R1, R4)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requests 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(100% Direct B3)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 requests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(R2, R3)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95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L5_000L5​_000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 requests 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(R0, R2, R3)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requests 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(100% Direct B3)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request 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(R1)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38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L5_001L5​_001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request 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(R3)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 requests 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(R0, R2, R4)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requests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731520" y="457200"/>
            <a:ext cx="106977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7. Explanation of the Critical Numbers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731520" y="1645920"/>
            <a:ext cx="1069776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• Q1: Why does Rule-Based SOP have higher RFR at L5 (61.5% vs 50.0%)?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   ↳ </a:t>
            </a: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Pure Python code never makes arithmetic slips on battery range. In L5_000, Gemini tried to assign a 53% battery EV to a 73% trip. The Safety Guard rejected it, exhausting the spare fleet. Classical Dijkstra excels at exact math, but fails on unstructured text.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• Q2: Why does HCVR reach 116.7% (How can a percentage exceed 100%)?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   ↳ </a:t>
            </a: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Formula counts total violation instances per proposed trip. In L5_001, 3 proposed trips generated 4 violations (closed roads + low battery), giving 133.3% (average: 116.7%). This mathematically proves why unconstrained LLMs cannot be deployed without our Deterministic Safety Guard!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• Q3: When should Multi-Agent actually be deployed?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   ↳ </a:t>
            </a: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Never for simple shortest-path routing (SOP is 4000× faster and free). Multi-agent is justified ONLY at high complexity (L3+) where unstructured text alerts and emergency fleet contention occur simultaneously.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731520" y="457200"/>
            <a:ext cx="1069776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8. Conclusion &amp; Project Future Work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0" i="1" u="none" strike="noStrike">
                <a:solidFill>
                  <a:srgbClr val="646464"/>
                </a:solidFill>
                <a:effectLst/>
                <a:uFillTx/>
                <a:latin typeface="Calibri"/>
              </a:rPr>
              <a:t>Key Takeaways and Next Implementation Milestones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731520" y="1645920"/>
            <a:ext cx="10697760" cy="263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5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• Core Takeaway 1: </a:t>
            </a: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Neuro-symbolic separation is essential: LLMs handle reading unstructured text alerts and priority negotiation; deterministic tools handle graph pathfinding.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5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• Core Takeaway 2: </a:t>
            </a: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Deterministic Safety Guard prevents real-world vehicle failure by catching all hallucinated actions pre-execution.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5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• Core Takeaway 3: </a:t>
            </a: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Multi-Agent coordination prevents Single-LLM collapse at L5 (50.0% vs 26.9%) at the measurable trade-off of ~3× latency ($0.00049 vs $0.00022).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500" b="1" u="none" strike="noStrike">
                <a:solidFill>
                  <a:srgbClr val="1F497D"/>
                </a:solidFill>
                <a:effectLst/>
                <a:uFillTx/>
                <a:latin typeface="Calibri"/>
              </a:rPr>
              <a:t>• Next Milestone (Phase 6): </a:t>
            </a: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Implement interactive bidirectional debate between Fleet and Routing agents, followed by dynamic SUMO micro-simulation integration.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1734</TotalTime>
  <Application>LibreOffice/26.2.6.1$Linux_X86_64 LibreOffice_project/620$Build-1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2026-10-09T15:01:15Z</dcterms:modified>
  <cp:revision>12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